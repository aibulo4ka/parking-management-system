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26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8" r:id="rId17"/>
  </p:sldIdLst>
  <p:sldSz cx="12192000" cy="6858000"/>
  <p:notesSz cx="6858000" cy="9144000"/>
  <p:embeddedFontLst>
    <p:embeddedFont>
      <p:font typeface="Gilroy Bold" pitchFamily="2" charset="0"/>
      <p:bold r:id="rId19"/>
    </p:embeddedFont>
    <p:embeddedFont>
      <p:font typeface="Gilroy Medium" pitchFamily="2" charset="0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-114300" y="6237515"/>
            <a:ext cx="5388429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090" y="5486066"/>
            <a:ext cx="6887816" cy="19415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67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29"/>
            <a:ext cx="10281557" cy="36412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26.05.2026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137322" y="5706836"/>
            <a:ext cx="1787979" cy="1065207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9600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3035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050234" y="5526541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26.05.2026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30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26.05.2026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456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26.05.2026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16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26.05.2026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96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26.05.2026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45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26.05.2026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64928" y="5385718"/>
            <a:ext cx="1787978" cy="127204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30"/>
            <a:ext cx="10281557" cy="3510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26.05.2026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58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Интеграция системы управления парковкой со сторонней системой мессенджер-уведомлений Telegram Bot API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7"/>
            <a:ext cx="10087276" cy="2148273"/>
          </a:xfrm>
        </p:spPr>
        <p:txBody>
          <a:bodyPr>
            <a:normAutofit lnSpcReduction="10000"/>
          </a:bodyPr>
          <a:lstStyle/>
          <a:p>
            <a:r>
              <a:rPr lang="ru-RU" sz="1800" b="1" dirty="0"/>
              <a:t>Защита курсового проекта</a:t>
            </a:r>
          </a:p>
          <a:p>
            <a:r>
              <a:rPr lang="ru-RU" sz="1400" dirty="0"/>
              <a:t>по дисциплине «Проектирование интеграционных решений»</a:t>
            </a:r>
          </a:p>
          <a:p>
            <a:endParaRPr lang="ru-RU" sz="1200" dirty="0"/>
          </a:p>
          <a:p>
            <a:r>
              <a:rPr lang="ru-RU" sz="1400" dirty="0"/>
              <a:t>Выполнила: Амирова, группа 231-365</a:t>
            </a:r>
          </a:p>
          <a:p>
            <a:r>
              <a:rPr lang="ru-RU" sz="1400" dirty="0"/>
              <a:t>Руководитель: Пардаев А. А.</a:t>
            </a:r>
          </a:p>
          <a:p>
            <a:endParaRPr lang="ru-RU" sz="1200" dirty="0"/>
          </a:p>
          <a:p>
            <a:r>
              <a:rPr lang="ru-RU" sz="1400" dirty="0"/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1" dirty="0"/>
              <a:t>Контекст: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600" dirty="0"/>
              <a:t>АИС УП работала как изолированная система — клиент проверял статусы только вручную через личный кабинет.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600" dirty="0"/>
              <a:t>Современные пользователи ожидают проактивных уведомлений в привычном мессенджере.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600" dirty="0"/>
              <a:t>Изоляция системы снижает прозрачность и приводит к пропущенным бронированиям.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800" b="1" dirty="0"/>
              <a:t>Почему Telegram Bot API: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600" dirty="0"/>
              <a:t>Открытый, бесплатный, документированный REST/HTTPS API.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600" dirty="0"/>
              <a:t>Не требует SMS-шлюзов и push-сервисов (Firebase).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600" dirty="0"/>
              <a:t>Высокое проникновение в целевой аудитории.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Актуальность и проблема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1" dirty="0">
                <a:solidFill>
                  <a:srgbClr val="C8102E"/>
                </a:solidFill>
              </a:rPr>
              <a:t>ЦЕЛЬ</a:t>
            </a:r>
          </a:p>
          <a:p>
            <a:pPr marL="0" indent="0">
              <a:buNone/>
            </a:pPr>
            <a:r>
              <a:rPr lang="ru-RU" sz="1500" i="1" dirty="0"/>
              <a:t>Разработать и реализовать интеграционное решение, автоматически информирующее клиентов АИС УП о значимых событиях парковочного цикла через Telegram, с учётом функциональности, безопасности, надёжности и производительности.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800" b="1" dirty="0">
                <a:solidFill>
                  <a:srgbClr val="C8102E"/>
                </a:solidFill>
              </a:rPr>
              <a:t>ЗАДАЧИ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Анализ предметной области, выявление точек интеграции.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Проектирование архитектуры, выбор протоколов и форматов обмена.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Разработка схемы хранения и спецификаций интеграционных интерфейсов.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Учёт нефункциональных требований: security, reliability, performance.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Реализация прототипа, автоматизированное тестирование, оценка метрик.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Анализ рисков и формулировка направлений развития.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Цель и задачи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ИС-1: АИС управления парковкой (собственная разработка)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Регистрация клиентов и автомобилей, бронирование машино-мест, парковочные сессии.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Приём платежей с предоплатного баланса, аналитика для администратора.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Стек: FastAPI + SQLAlchemy 2.0 + PostgreSQL 15 + React 18.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ИС-2: Telegram Bot API (внешний сервис)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REST/HTTPS, JSON, идентификация по секретному токену бота.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Используются 3 метода: sendMessage, getUpdates, getMe.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Режим polling — не требует публичного IP или TLS-сертификата на стороне АИС УП.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Объект интеграции: две информационные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dirty="0"/>
              <a:t>Выявлены 8 точек интеграции, объединённые в 2 типовых сценария:</a:t>
            </a:r>
          </a:p>
          <a:p>
            <a:pPr marL="0" indent="0">
              <a:buNone/>
            </a:pPr>
            <a:endParaRPr lang="ru-RU" sz="800" dirty="0"/>
          </a:p>
          <a:p>
            <a:pPr marL="0" indent="0">
              <a:buNone/>
            </a:pPr>
            <a:r>
              <a:rPr lang="ru-RU" sz="1500" b="1" dirty="0">
                <a:solidFill>
                  <a:srgbClr val="C8102E"/>
                </a:solidFill>
              </a:rPr>
              <a:t>Исходящий поток: АИС УП → Telegram (асинхронно)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№1 — Подтверждение нового бронирования (триггер: создание брони)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№2 — Напоминание за 30 минут до брони (триггер: таймер)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№3 — Уведомление о фактическом въезде (триггер: открытие сессии)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№4 — Уведомление о выезде и итоговой стоимости (триггер: закрытие сессии)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№5 — Подтверждение поступления платежа (триггер: оплата)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500" b="1" dirty="0">
                <a:solidFill>
                  <a:srgbClr val="C8102E"/>
                </a:solidFill>
              </a:rPr>
              <a:t>Управление привязкой (синхронно + polling)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№6 — Запрос ссылки на привязку (УП → клиент через UI)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№7 — Завершение привязки получением /start &lt;TOKEN&gt; (TG → УП через polling)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№8 — Отвязка Telegram-аккаунта (УП → БД)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Точки интеграции — 8 точек, 2 сценария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i="1" dirty="0"/>
              <a:t>Выбран паттерн API-интеграции вместо ESB и файлового обмена: интегрируемых систем всего две, объём данных мал (до 300 символов), требование real-time.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600" b="1" dirty="0">
                <a:solidFill>
                  <a:srgbClr val="C8102E"/>
                </a:solidFill>
              </a:rPr>
              <a:t>4 новых программных компонента (изоляция точки внешнего обращения)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telegram_service.py — низкоуровневый HTTP-клиент Bot API с ретраями.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notification_service.py — 5 методов-адаптеров на бизнес-языке, формируют HTML.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telegram_polling.py — фоновый воркер long polling с самовосстановлением.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reminder_worker.py — планировщик напоминаний, цикл 60 секунд.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400" i="1" dirty="0"/>
              <a:t>Архитектура устойчива к эволюции — точка обращения изолирована и может быть заменена обращением к ESB без правок вызывающего кода.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6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Архитектура решения — API-интеграция через REST/HTTPS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3 изменения схемы (минимально инвазивные)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600" b="1" dirty="0"/>
              <a:t>1. customers.telegram_chat_id VARCHAR NULL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Хранит chat_id Telegram; NULL у непривязанного клиента.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Уникальность контролируется на уровне бизнес-логики в одной транзакции.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600" b="1" dirty="0"/>
              <a:t>2. telegram_link_tokens — новая таблица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token (PK, URL-safe, 192 бита энтропии), customer_id (FK), expires_at, used, created_at.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TTL 10 минут, одноразовое использование — защита от компрометации.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600" b="1" dirty="0"/>
              <a:t>3. bookings.reminder_sent_at TIMESTAMP NULL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Отметка о факте отправки напоминания — обеспечивает идемпотентность планировщика.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Изменения в схеме БД — одна Alembic-миграция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i="1" dirty="0"/>
              <a:t>Триггер: действие клиента в личном кабинете. Цель — безопасно связать customer_id и chat_id.</a:t>
            </a:r>
          </a:p>
          <a:p>
            <a:pPr marL="0" indent="0">
              <a:buNone/>
            </a:pPr>
            <a:endParaRPr lang="ru-RU" sz="10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Клиент нажимает «Подключить Telegram» в личном кабинете.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АИС УП генерирует одноразовый токен secrets.token_urlsafe(24) с TTL=10 мин.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Клиент получает deep link: https://t.me/&lt;Bot&gt;?start=&lt;TOKEN&gt;.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Telegram пересылает команду /start &lt;TOKEN&gt; боту.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Polling worker валидирует токен и проверяет уникальность chat_id в одной транзакции БД.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Связь customer_id ↔ chat_id фиксируется атомарно, token помечается used=true.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Бот отправляет клиенту «✅ Готово».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300" i="1" dirty="0"/>
              <a:t>Все шаги проверены отдельным набором тестов — группа 2 (см. слайд 12).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Сценарий 1 — Привязка Telegram-аккаунта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i="1" dirty="0"/>
              <a:t>Триггер: внутреннее событие АИС УП. send_*-вызов выполняется СТРОГО после await db.commit().</a:t>
            </a:r>
          </a:p>
          <a:p>
            <a:pPr marL="0" indent="0">
              <a:buNone/>
            </a:pPr>
            <a:endParaRPr lang="ru-RU" sz="10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Подтверждение бронирования — endpoint bookings.py:256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Уведомление о въезде — endpoint sessions.py:246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Уведомление о выезде с итоговой стоимостью — endpoint sessions.py:570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Подтверждение поступления платежа — endpoint payments.py:345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500" dirty="0"/>
              <a:t>Напоминание за 30 мин до брони — reminder_worker.py:88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500" b="1" dirty="0">
                <a:solidFill>
                  <a:srgbClr val="C8102E"/>
                </a:solidFill>
              </a:rPr>
              <a:t>Архитектурный паттерн «outbox-like» (упрощённый)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Основное состояние БД зафиксировано до обращения к внешнему сервису.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Отказ Telegram НЕ откатывает бизнес-транзакцию — изоляция отказов внешнего сервиса.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Все даты приводятся к московскому времени (UTC+3) форматтером _fmt_dt.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Сценарий 2 — Автоматические уведомления (5 типов событий)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Backend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Python 3.11 · FastAPI 0.104+ · httpx 0.25+ (асинхронный HTTP).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SQLAlchemy 2.0 (async ORM) · PostgreSQL 15 · Alembic 1.13+.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Pydantic 2.x · asyncio · secrets · pytest + pytest-asyncio.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Frontend и инфраструктура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React 18 — компонент TelegramLinkSection.jsx.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Docker + Docker Compose — единое окружение для dev/test/prod.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Структура кода (новое или модифицированное)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4 файла в app/services/: telegram_service, notification_service, telegram_polling, reminder_worker.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1 endpoint app/api/endpoints/telegram.py, 1 модель, 1 Pydantic-схема, 1 миграция Alembic.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Покрытие тестами: 5 тест-файлов в backend/tests/.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10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Технологический стек и структура кода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Безопасность (security)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Токены привязки: secrets.token_urlsafe(24) — 192 бита энтропии, TTL 10 мин, одноразовые.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Токен бота — только в .env, не в VCS; рекомендована ротация раз в 6 месяцев.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HTTPS с проверкой сертификата — исключает подмену и прослушивание.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Контроль уникальности chat_id в одной транзакции БД — защита от подмены идентичности.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Аудит всех попыток привязки и отправки в журнале серверной части.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Отказоустойчивость (reliability)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sendMessage: 3 попытки с задержками 0 / 0,5 / 1,5 с; timeout 8 с.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Polling worker: при потере сети экспоненциальная задержка 5 с, без перезапуска backend.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send_* после db.commit() — отказ Telegram не откатывает бизнес-транзакцию.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reminder_sent_at в одной транзакции с рассылкой — идемпотентность напоминаний.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11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Безопасность и отказоустойчивость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i="1" dirty="0"/>
              <a:t>Стратегия: модульное + интеграционное + производительностное. Среда — тот же Docker, что и production.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700" b="1" dirty="0">
                <a:solidFill>
                  <a:srgbClr val="C8102E"/>
                </a:solidFill>
              </a:rPr>
              <a:t>5 групп тест-кейсов: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Группа 1 — Клиент Bot API (test_telegram_service.py): HTTP-методы, ретраи, таймауты, ошибки сервера.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Группа 2 — Polling worker (test_telegram_polling.py): обработка /start &lt;TOKEN&gt;, истёкшие и использованные токены.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Группа 3 — REST API привязки (test_telegram_endpoints.py): 200/400/401/503, генерация, статус, отвязка.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Группа 4 — Сервис уведомлений (test_notification_service.py): 5 типов уведомлений, экранирование HTML, UTC+3.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Группа 5 — Планировщик напоминаний (test_reminder_worker.py): 4 условия отбора, идемпотентность.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500" b="1" dirty="0">
                <a:solidFill>
                  <a:srgbClr val="C8102E"/>
                </a:solidFill>
              </a:rPr>
              <a:t>Итог прогона: 134 теста, 0 ошибок, 26 предупреждений (внешние библиотеки — pydantic v2, passlib).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12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Автоматизированное тестирование — 134/134, 0 ошибок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i="1" dirty="0"/>
              <a:t>Методика: 20 последовательных вызовов sendMessage с паузой 0,5 с на реальный чат, измерение от вызова до ответа Telegram.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700" b="1" dirty="0"/>
              <a:t>Результаты по 20 наблюдениям:</a:t>
            </a:r>
          </a:p>
          <a:p>
            <a:pPr marL="0" indent="0">
              <a:buNone/>
            </a:pPr>
            <a:endParaRPr lang="ru-RU" sz="10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700" b="1" dirty="0"/>
              <a:t>Минимум: 141,5 мс       Медиана: 168,3 мс       Среднее: 1460,3 мс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700" b="1" dirty="0"/>
              <a:t>95-й процентиль: 8732,0 мс       Максимум: 8798,7 мс       σ: 3139,8 мс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600" b="1" dirty="0">
                <a:solidFill>
                  <a:srgbClr val="C8102E"/>
                </a:solidFill>
              </a:rPr>
              <a:t>Распределение наблюдений: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17 из 20 наблюдений — типичные 141–301 мс, около 165 мс.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400" dirty="0"/>
              <a:t>3 из 20 (15 %) — выбросы ~8700 мс из-за коротких сетевых сбоев и сработавших ретраев.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400" i="1" dirty="0">
                <a:solidFill>
                  <a:srgbClr val="C8102E"/>
                </a:solidFill>
              </a:rPr>
              <a:t>Вывод: медиана 168 мс — для пользователя доставка воспринимается как мгновенная. Выбросы компенсируются ретраями, потерь нет.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13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Производительность — задержка (latency)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i="1" dirty="0"/>
              <a:t>Методика: тайт-луп из 50 последовательных вызовов sendMessage без пауз, фиксация общего времени и доли успехов.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700" b="1" dirty="0"/>
              <a:t>Результаты:</a:t>
            </a:r>
          </a:p>
          <a:p>
            <a:pPr marL="0" indent="0">
              <a:buNone/>
            </a:pPr>
            <a:endParaRPr lang="ru-RU" sz="10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700" b="1" dirty="0"/>
              <a:t>Отправлено: 50 / Доставлено: 50 / Ошибок: 0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700" b="1" dirty="0"/>
              <a:t>Время выполнения: 129,4 с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700" b="1" dirty="0">
                <a:solidFill>
                  <a:srgbClr val="C8102E"/>
                </a:solidFill>
              </a:rPr>
              <a:t>Пропускная способность: 0,39 msg/s   ·   Delivery rate: 100 %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600" b="1" dirty="0">
                <a:solidFill>
                  <a:srgbClr val="C8102E"/>
                </a:solidFill>
              </a:rPr>
              <a:t>Анализ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Лимит Telegram Bot API: ~30 msg/s на бота — у нас 70-кратный запас по теоретическому пределу.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Реальный поток — несколько сообщений в час на клиента: 0,39 msg/s покрывает тысячи клиентов.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300" dirty="0"/>
              <a:t>Доля 100 % — архитектура с ретраями выдерживает высоконагруженный режим без потерь.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14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Производительность — пропускная способность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b="1" dirty="0">
                <a:solidFill>
                  <a:srgbClr val="C8102E"/>
                </a:solidFill>
              </a:rPr>
              <a:t>Ключевые риски и меры митигации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Блокировка трафика к api.telegram.org регулятором (вероятность средняя) → VPN на серверной стороне; рассмотрение VK Messenger как альтернативного канала.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Превышение лимита 30 msg/s при росте нагрузки → внедрение очереди с дросселированием.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Утечка токена бота (низкая) → хранение в .env, рекомендованная ротация раз в 6 месяцев.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Изменение API Telegram (низкая) → изоляция кода в одном модуле, контракт зафиксирован в тестах.</a:t>
            </a:r>
          </a:p>
          <a:p>
            <a:pPr marL="0" indent="0">
              <a:buNone/>
            </a:pPr>
            <a:endParaRPr lang="ru-RU" sz="1000" dirty="0"/>
          </a:p>
          <a:p>
            <a:pPr marL="0" indent="0">
              <a:buNone/>
            </a:pPr>
            <a:r>
              <a:rPr lang="ru-RU" sz="1500" b="1" dirty="0">
                <a:solidFill>
                  <a:srgbClr val="C8102E"/>
                </a:solidFill>
              </a:rPr>
              <a:t>Направления развития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Брокер сообщений (RabbitMQ / Redis Streams) — буферизация всплесков, гарантия доставки при недоступности TG.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Переход с polling на webhook — экономия ресурсов, горизонтальное масштабирование.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Двусторонний бот — просмотр и отмена брони, пополнение баланса через Telegram (полноценный UI).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Метрики и наблюдаемость — Prometheus + Grafana для проактивного обнаружения деградаций.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ru-RU" sz="1200" dirty="0"/>
              <a:t>Мультиканальность — второй провайдер (VK Teams / SMS) с автопереключением.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15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Риски и направления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3">
  <a:themeElements>
    <a:clrScheme name="Московский Политех красная">
      <a:dk1>
        <a:srgbClr val="E61E46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мелее мысли" id="{FE0A4F31-078A-4114-8329-BF0415558134}" vid="{8D64BDF8-1A07-4857-8E10-4DBD0141684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</TotalTime>
  <Words>1768</Words>
  <Application>Microsoft Macintosh PowerPoint</Application>
  <PresentationFormat>Широкоэкранный</PresentationFormat>
  <Paragraphs>196</Paragraphs>
  <Slides>16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Gilroy Bold</vt:lpstr>
      <vt:lpstr>Arial</vt:lpstr>
      <vt:lpstr>Verdana</vt:lpstr>
      <vt:lpstr>Gilroy Medium</vt:lpstr>
      <vt:lpstr>Calibri</vt:lpstr>
      <vt:lpstr>Тема3</vt:lpstr>
      <vt:lpstr>Интеграция системы управления парковкой со сторонней системой мессенджер-уведомлений Telegram Bot API</vt:lpstr>
      <vt:lpstr>Актуальность и проблема</vt:lpstr>
      <vt:lpstr>Цель и задачи проекта</vt:lpstr>
      <vt:lpstr>Объект интеграции: две информационные системы</vt:lpstr>
      <vt:lpstr>Точки интеграции — 8 точек, 2 сценария</vt:lpstr>
      <vt:lpstr>Архитектура решения — API-интеграция через REST/HTTPS</vt:lpstr>
      <vt:lpstr>Изменения в схеме БД — одна Alembic-миграция</vt:lpstr>
      <vt:lpstr>Сценарий 1 — Привязка Telegram-аккаунта</vt:lpstr>
      <vt:lpstr>Сценарий 2 — Автоматические уведомления (5 типов событий)</vt:lpstr>
      <vt:lpstr>Технологический стек и структура кода</vt:lpstr>
      <vt:lpstr>Безопасность и отказоустойчивость</vt:lpstr>
      <vt:lpstr>Автоматизированное тестирование — 134/134, 0 ошибок</vt:lpstr>
      <vt:lpstr>Производительность — задержка (latency)</vt:lpstr>
      <vt:lpstr>Производительность — пропускная способность</vt:lpstr>
      <vt:lpstr>Риски и направления развития</vt:lpstr>
      <vt:lpstr>Спасибо за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Матвеева Елизавета Игоревна</dc:creator>
  <cp:lastModifiedBy>Gayanov Aibulat</cp:lastModifiedBy>
  <cp:revision>19</cp:revision>
  <dcterms:created xsi:type="dcterms:W3CDTF">2023-07-20T09:33:19Z</dcterms:created>
  <dcterms:modified xsi:type="dcterms:W3CDTF">2026-05-26T11:57:22Z</dcterms:modified>
</cp:coreProperties>
</file>